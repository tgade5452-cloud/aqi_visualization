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9" r:id="rId10"/>
    <p:sldId id="262" r:id="rId11"/>
    <p:sldId id="266" r:id="rId12"/>
    <p:sldId id="263" r:id="rId13"/>
    <p:sldId id="264" r:id="rId14"/>
    <p:sldId id="270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5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037826-FFB0-4805-ABEB-96F7F82BAD1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7347898-2AE6-4DC7-A7E8-55F4A0E4B694}">
      <dgm:prSet/>
      <dgm:spPr/>
      <dgm:t>
        <a:bodyPr/>
        <a:lstStyle/>
        <a:p>
          <a:r>
            <a:rPr lang="en-US"/>
            <a:t>• Missing CSV in Processing: fixed with data re-export</a:t>
          </a:r>
        </a:p>
      </dgm:t>
    </dgm:pt>
    <dgm:pt modelId="{11A38463-3B90-4941-91B1-9B4321DE886E}" type="parTrans" cxnId="{EBAC65C3-2BF6-48C9-B97F-0F0A007AE039}">
      <dgm:prSet/>
      <dgm:spPr/>
      <dgm:t>
        <a:bodyPr/>
        <a:lstStyle/>
        <a:p>
          <a:endParaRPr lang="en-US"/>
        </a:p>
      </dgm:t>
    </dgm:pt>
    <dgm:pt modelId="{02BEA88A-254F-4808-BB68-F1C78A9F5DAA}" type="sibTrans" cxnId="{EBAC65C3-2BF6-48C9-B97F-0F0A007AE039}">
      <dgm:prSet/>
      <dgm:spPr/>
      <dgm:t>
        <a:bodyPr/>
        <a:lstStyle/>
        <a:p>
          <a:endParaRPr lang="en-US"/>
        </a:p>
      </dgm:t>
    </dgm:pt>
    <dgm:pt modelId="{1968CFC1-12BA-4C3A-A04F-AE0666C93A1E}">
      <dgm:prSet/>
      <dgm:spPr/>
      <dgm:t>
        <a:bodyPr/>
        <a:lstStyle/>
        <a:p>
          <a:r>
            <a:rPr lang="en-US"/>
            <a:t>• FileNotFoundError in Python: fixed path in heatmap script</a:t>
          </a:r>
        </a:p>
      </dgm:t>
    </dgm:pt>
    <dgm:pt modelId="{8A99155E-117A-4F72-977C-54C53D949CE8}" type="parTrans" cxnId="{33464E1D-A466-43EA-9F9A-6B8B35CB9A62}">
      <dgm:prSet/>
      <dgm:spPr/>
      <dgm:t>
        <a:bodyPr/>
        <a:lstStyle/>
        <a:p>
          <a:endParaRPr lang="en-US"/>
        </a:p>
      </dgm:t>
    </dgm:pt>
    <dgm:pt modelId="{0F83DDD4-ED6A-4D29-96CE-4BBE2C89A9F5}" type="sibTrans" cxnId="{33464E1D-A466-43EA-9F9A-6B8B35CB9A62}">
      <dgm:prSet/>
      <dgm:spPr/>
      <dgm:t>
        <a:bodyPr/>
        <a:lstStyle/>
        <a:p>
          <a:endParaRPr lang="en-US"/>
        </a:p>
      </dgm:t>
    </dgm:pt>
    <dgm:pt modelId="{85333BDA-284A-4821-BE0C-E30CB6ECEB4D}">
      <dgm:prSet/>
      <dgm:spPr/>
      <dgm:t>
        <a:bodyPr/>
        <a:lstStyle/>
        <a:p>
          <a:r>
            <a:rPr lang="en-US"/>
            <a:t>• Lesson: Consistent naming and directories = key</a:t>
          </a:r>
        </a:p>
      </dgm:t>
    </dgm:pt>
    <dgm:pt modelId="{305FE569-F1F8-42E7-A679-3753008A0097}" type="parTrans" cxnId="{1EB3F5BE-AA1F-4A8C-AE31-4A47BCC8D17A}">
      <dgm:prSet/>
      <dgm:spPr/>
      <dgm:t>
        <a:bodyPr/>
        <a:lstStyle/>
        <a:p>
          <a:endParaRPr lang="en-US"/>
        </a:p>
      </dgm:t>
    </dgm:pt>
    <dgm:pt modelId="{5236BBF7-55E0-4103-90EE-5FC79061C29E}" type="sibTrans" cxnId="{1EB3F5BE-AA1F-4A8C-AE31-4A47BCC8D17A}">
      <dgm:prSet/>
      <dgm:spPr/>
      <dgm:t>
        <a:bodyPr/>
        <a:lstStyle/>
        <a:p>
          <a:endParaRPr lang="en-US"/>
        </a:p>
      </dgm:t>
    </dgm:pt>
    <dgm:pt modelId="{1349C8F6-682C-466F-B9DC-EFBF9F5F02CB}" type="pres">
      <dgm:prSet presAssocID="{21037826-FFB0-4805-ABEB-96F7F82BAD1B}" presName="root" presStyleCnt="0">
        <dgm:presLayoutVars>
          <dgm:dir/>
          <dgm:resizeHandles val="exact"/>
        </dgm:presLayoutVars>
      </dgm:prSet>
      <dgm:spPr/>
    </dgm:pt>
    <dgm:pt modelId="{047050FF-04E5-4ECF-A9B9-B6527A9DA8AA}" type="pres">
      <dgm:prSet presAssocID="{B7347898-2AE6-4DC7-A7E8-55F4A0E4B694}" presName="compNode" presStyleCnt="0"/>
      <dgm:spPr/>
    </dgm:pt>
    <dgm:pt modelId="{767EB5FF-3772-438B-A544-54F88AF396A3}" type="pres">
      <dgm:prSet presAssocID="{B7347898-2AE6-4DC7-A7E8-55F4A0E4B69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774FF4A3-5570-40AB-BA9B-CCCA226464DA}" type="pres">
      <dgm:prSet presAssocID="{B7347898-2AE6-4DC7-A7E8-55F4A0E4B694}" presName="spaceRect" presStyleCnt="0"/>
      <dgm:spPr/>
    </dgm:pt>
    <dgm:pt modelId="{7D4683D1-6A4B-42F2-AE79-195A897C3762}" type="pres">
      <dgm:prSet presAssocID="{B7347898-2AE6-4DC7-A7E8-55F4A0E4B694}" presName="textRect" presStyleLbl="revTx" presStyleIdx="0" presStyleCnt="3">
        <dgm:presLayoutVars>
          <dgm:chMax val="1"/>
          <dgm:chPref val="1"/>
        </dgm:presLayoutVars>
      </dgm:prSet>
      <dgm:spPr/>
    </dgm:pt>
    <dgm:pt modelId="{230AB77A-3142-4AF9-83E4-589182801E34}" type="pres">
      <dgm:prSet presAssocID="{02BEA88A-254F-4808-BB68-F1C78A9F5DAA}" presName="sibTrans" presStyleCnt="0"/>
      <dgm:spPr/>
    </dgm:pt>
    <dgm:pt modelId="{4C9992D8-8B07-44DF-AC28-CD485D7E4BD4}" type="pres">
      <dgm:prSet presAssocID="{1968CFC1-12BA-4C3A-A04F-AE0666C93A1E}" presName="compNode" presStyleCnt="0"/>
      <dgm:spPr/>
    </dgm:pt>
    <dgm:pt modelId="{963F4F0E-9423-45C2-AB87-4707BE584D9A}" type="pres">
      <dgm:prSet presAssocID="{1968CFC1-12BA-4C3A-A04F-AE0666C93A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2AEBCB4-040D-4780-B086-AE459E007B0A}" type="pres">
      <dgm:prSet presAssocID="{1968CFC1-12BA-4C3A-A04F-AE0666C93A1E}" presName="spaceRect" presStyleCnt="0"/>
      <dgm:spPr/>
    </dgm:pt>
    <dgm:pt modelId="{669B31D4-6561-49A9-B25A-A4887B115DEC}" type="pres">
      <dgm:prSet presAssocID="{1968CFC1-12BA-4C3A-A04F-AE0666C93A1E}" presName="textRect" presStyleLbl="revTx" presStyleIdx="1" presStyleCnt="3">
        <dgm:presLayoutVars>
          <dgm:chMax val="1"/>
          <dgm:chPref val="1"/>
        </dgm:presLayoutVars>
      </dgm:prSet>
      <dgm:spPr/>
    </dgm:pt>
    <dgm:pt modelId="{C1B30A4F-CF5E-4E0F-AE04-2F42DA374EA7}" type="pres">
      <dgm:prSet presAssocID="{0F83DDD4-ED6A-4D29-96CE-4BBE2C89A9F5}" presName="sibTrans" presStyleCnt="0"/>
      <dgm:spPr/>
    </dgm:pt>
    <dgm:pt modelId="{B1876C63-E184-48B3-8AEE-551A02AF0804}" type="pres">
      <dgm:prSet presAssocID="{85333BDA-284A-4821-BE0C-E30CB6ECEB4D}" presName="compNode" presStyleCnt="0"/>
      <dgm:spPr/>
    </dgm:pt>
    <dgm:pt modelId="{7A76A164-1D48-44CB-AFBC-2AFD8907BE33}" type="pres">
      <dgm:prSet presAssocID="{85333BDA-284A-4821-BE0C-E30CB6ECEB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16EDD2BE-7097-4654-B423-1F33EF774B70}" type="pres">
      <dgm:prSet presAssocID="{85333BDA-284A-4821-BE0C-E30CB6ECEB4D}" presName="spaceRect" presStyleCnt="0"/>
      <dgm:spPr/>
    </dgm:pt>
    <dgm:pt modelId="{6EC44D27-F323-4DAC-95D0-C1F96BD9924E}" type="pres">
      <dgm:prSet presAssocID="{85333BDA-284A-4821-BE0C-E30CB6ECEB4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3464E1D-A466-43EA-9F9A-6B8B35CB9A62}" srcId="{21037826-FFB0-4805-ABEB-96F7F82BAD1B}" destId="{1968CFC1-12BA-4C3A-A04F-AE0666C93A1E}" srcOrd="1" destOrd="0" parTransId="{8A99155E-117A-4F72-977C-54C53D949CE8}" sibTransId="{0F83DDD4-ED6A-4D29-96CE-4BBE2C89A9F5}"/>
    <dgm:cxn modelId="{9A710A28-3A23-47FB-94E9-F4CBD4E788B0}" type="presOf" srcId="{B7347898-2AE6-4DC7-A7E8-55F4A0E4B694}" destId="{7D4683D1-6A4B-42F2-AE79-195A897C3762}" srcOrd="0" destOrd="0" presId="urn:microsoft.com/office/officeart/2018/2/layout/IconLabelList"/>
    <dgm:cxn modelId="{45333F46-5611-4DE0-A2D0-9D3923812A62}" type="presOf" srcId="{1968CFC1-12BA-4C3A-A04F-AE0666C93A1E}" destId="{669B31D4-6561-49A9-B25A-A4887B115DEC}" srcOrd="0" destOrd="0" presId="urn:microsoft.com/office/officeart/2018/2/layout/IconLabelList"/>
    <dgm:cxn modelId="{10811B83-9049-4190-8DF8-93990099A51D}" type="presOf" srcId="{21037826-FFB0-4805-ABEB-96F7F82BAD1B}" destId="{1349C8F6-682C-466F-B9DC-EFBF9F5F02CB}" srcOrd="0" destOrd="0" presId="urn:microsoft.com/office/officeart/2018/2/layout/IconLabelList"/>
    <dgm:cxn modelId="{1EB3F5BE-AA1F-4A8C-AE31-4A47BCC8D17A}" srcId="{21037826-FFB0-4805-ABEB-96F7F82BAD1B}" destId="{85333BDA-284A-4821-BE0C-E30CB6ECEB4D}" srcOrd="2" destOrd="0" parTransId="{305FE569-F1F8-42E7-A679-3753008A0097}" sibTransId="{5236BBF7-55E0-4103-90EE-5FC79061C29E}"/>
    <dgm:cxn modelId="{EBAC65C3-2BF6-48C9-B97F-0F0A007AE039}" srcId="{21037826-FFB0-4805-ABEB-96F7F82BAD1B}" destId="{B7347898-2AE6-4DC7-A7E8-55F4A0E4B694}" srcOrd="0" destOrd="0" parTransId="{11A38463-3B90-4941-91B1-9B4321DE886E}" sibTransId="{02BEA88A-254F-4808-BB68-F1C78A9F5DAA}"/>
    <dgm:cxn modelId="{1889FEE6-6AEB-410B-8687-AB73666E64AF}" type="presOf" srcId="{85333BDA-284A-4821-BE0C-E30CB6ECEB4D}" destId="{6EC44D27-F323-4DAC-95D0-C1F96BD9924E}" srcOrd="0" destOrd="0" presId="urn:microsoft.com/office/officeart/2018/2/layout/IconLabelList"/>
    <dgm:cxn modelId="{44B8A26D-4ACC-4D7D-B064-61EA4B6EDEC3}" type="presParOf" srcId="{1349C8F6-682C-466F-B9DC-EFBF9F5F02CB}" destId="{047050FF-04E5-4ECF-A9B9-B6527A9DA8AA}" srcOrd="0" destOrd="0" presId="urn:microsoft.com/office/officeart/2018/2/layout/IconLabelList"/>
    <dgm:cxn modelId="{AF207CBF-646B-4DCA-B2D5-ABA8159019DD}" type="presParOf" srcId="{047050FF-04E5-4ECF-A9B9-B6527A9DA8AA}" destId="{767EB5FF-3772-438B-A544-54F88AF396A3}" srcOrd="0" destOrd="0" presId="urn:microsoft.com/office/officeart/2018/2/layout/IconLabelList"/>
    <dgm:cxn modelId="{46F48190-B50C-4B9D-94E6-4CC258DC855A}" type="presParOf" srcId="{047050FF-04E5-4ECF-A9B9-B6527A9DA8AA}" destId="{774FF4A3-5570-40AB-BA9B-CCCA226464DA}" srcOrd="1" destOrd="0" presId="urn:microsoft.com/office/officeart/2018/2/layout/IconLabelList"/>
    <dgm:cxn modelId="{B8B4DDB4-47C8-4CEF-8291-2D85CA5530BF}" type="presParOf" srcId="{047050FF-04E5-4ECF-A9B9-B6527A9DA8AA}" destId="{7D4683D1-6A4B-42F2-AE79-195A897C3762}" srcOrd="2" destOrd="0" presId="urn:microsoft.com/office/officeart/2018/2/layout/IconLabelList"/>
    <dgm:cxn modelId="{4DDBF22A-6A58-4121-A71C-F5233FA2413A}" type="presParOf" srcId="{1349C8F6-682C-466F-B9DC-EFBF9F5F02CB}" destId="{230AB77A-3142-4AF9-83E4-589182801E34}" srcOrd="1" destOrd="0" presId="urn:microsoft.com/office/officeart/2018/2/layout/IconLabelList"/>
    <dgm:cxn modelId="{7AA6E929-ADAF-4859-9B75-E29C27710DEA}" type="presParOf" srcId="{1349C8F6-682C-466F-B9DC-EFBF9F5F02CB}" destId="{4C9992D8-8B07-44DF-AC28-CD485D7E4BD4}" srcOrd="2" destOrd="0" presId="urn:microsoft.com/office/officeart/2018/2/layout/IconLabelList"/>
    <dgm:cxn modelId="{EBC4A5BC-C029-4D21-A583-D1573765AA7D}" type="presParOf" srcId="{4C9992D8-8B07-44DF-AC28-CD485D7E4BD4}" destId="{963F4F0E-9423-45C2-AB87-4707BE584D9A}" srcOrd="0" destOrd="0" presId="urn:microsoft.com/office/officeart/2018/2/layout/IconLabelList"/>
    <dgm:cxn modelId="{80FD5F9E-3BEF-4720-9DC5-87404EF5680F}" type="presParOf" srcId="{4C9992D8-8B07-44DF-AC28-CD485D7E4BD4}" destId="{22AEBCB4-040D-4780-B086-AE459E007B0A}" srcOrd="1" destOrd="0" presId="urn:microsoft.com/office/officeart/2018/2/layout/IconLabelList"/>
    <dgm:cxn modelId="{40FA7719-C318-4240-BFE5-9187216213CC}" type="presParOf" srcId="{4C9992D8-8B07-44DF-AC28-CD485D7E4BD4}" destId="{669B31D4-6561-49A9-B25A-A4887B115DEC}" srcOrd="2" destOrd="0" presId="urn:microsoft.com/office/officeart/2018/2/layout/IconLabelList"/>
    <dgm:cxn modelId="{D134C43F-E8FE-40D8-B0D3-F9DA035B07A7}" type="presParOf" srcId="{1349C8F6-682C-466F-B9DC-EFBF9F5F02CB}" destId="{C1B30A4F-CF5E-4E0F-AE04-2F42DA374EA7}" srcOrd="3" destOrd="0" presId="urn:microsoft.com/office/officeart/2018/2/layout/IconLabelList"/>
    <dgm:cxn modelId="{E58FFA84-2281-494B-82A2-DE7AFC46AF76}" type="presParOf" srcId="{1349C8F6-682C-466F-B9DC-EFBF9F5F02CB}" destId="{B1876C63-E184-48B3-8AEE-551A02AF0804}" srcOrd="4" destOrd="0" presId="urn:microsoft.com/office/officeart/2018/2/layout/IconLabelList"/>
    <dgm:cxn modelId="{380E843D-C3CC-49C7-8E39-0BF08E5A2371}" type="presParOf" srcId="{B1876C63-E184-48B3-8AEE-551A02AF0804}" destId="{7A76A164-1D48-44CB-AFBC-2AFD8907BE33}" srcOrd="0" destOrd="0" presId="urn:microsoft.com/office/officeart/2018/2/layout/IconLabelList"/>
    <dgm:cxn modelId="{41E65577-5110-4585-A7E2-870D76954986}" type="presParOf" srcId="{B1876C63-E184-48B3-8AEE-551A02AF0804}" destId="{16EDD2BE-7097-4654-B423-1F33EF774B70}" srcOrd="1" destOrd="0" presId="urn:microsoft.com/office/officeart/2018/2/layout/IconLabelList"/>
    <dgm:cxn modelId="{818F4DE1-D2D0-4EFB-83CA-BE7E753B0188}" type="presParOf" srcId="{B1876C63-E184-48B3-8AEE-551A02AF0804}" destId="{6EC44D27-F323-4DAC-95D0-C1F96BD9924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7EB5FF-3772-438B-A544-54F88AF396A3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683D1-6A4B-42F2-AE79-195A897C3762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Missing CSV in Processing: fixed with data re-export</a:t>
          </a:r>
        </a:p>
      </dsp:txBody>
      <dsp:txXfrm>
        <a:off x="291148" y="2456435"/>
        <a:ext cx="2180418" cy="720000"/>
      </dsp:txXfrm>
    </dsp:sp>
    <dsp:sp modelId="{963F4F0E-9423-45C2-AB87-4707BE584D9A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B31D4-6561-49A9-B25A-A4887B115DEC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FileNotFoundError in Python: fixed path in heatmap script</a:t>
          </a:r>
        </a:p>
      </dsp:txBody>
      <dsp:txXfrm>
        <a:off x="2853140" y="2456435"/>
        <a:ext cx="2180418" cy="720000"/>
      </dsp:txXfrm>
    </dsp:sp>
    <dsp:sp modelId="{7A76A164-1D48-44CB-AFBC-2AFD8907BE33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44D27-F323-4DAC-95D0-C1F96BD9924E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Lesson: Consistent naming and directories = key</a:t>
          </a:r>
        </a:p>
      </dsp:txBody>
      <dsp:txXfrm>
        <a:off x="5415132" y="2456435"/>
        <a:ext cx="218041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of a viewing telescope with a city on its background">
            <a:extLst>
              <a:ext uri="{FF2B5EF4-FFF2-40B4-BE49-F238E27FC236}">
                <a16:creationId xmlns:a16="http://schemas.microsoft.com/office/drawing/2014/main" id="{5EC71D15-F0A1-C447-AEFC-E391821430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92" r="7104" b="1"/>
          <a:stretch/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/>
            <a:r>
              <a:rPr lang="en-US" sz="35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Visualizing Air Quality Trends in Los Angeles and New York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166367"/>
            <a:ext cx="3120174" cy="85099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By </a:t>
            </a:r>
          </a:p>
          <a:p>
            <a:pPr algn="l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Tarun Kumar Reddy Gade</a:t>
            </a:r>
          </a:p>
          <a:p>
            <a:pPr algn="l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Vijesh Medikonda</a:t>
            </a:r>
          </a:p>
          <a:p>
            <a:pPr algn="l"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–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Why Air Quality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• AQI = critical measure of air pollution</a:t>
            </a:r>
          </a:p>
          <a:p>
            <a:r>
              <a:rPr lang="en-US" sz="1700"/>
              <a:t>• Visualizes AQI trends for LA and NY (2023–2024)</a:t>
            </a:r>
          </a:p>
          <a:p>
            <a:r>
              <a:rPr lang="en-US" sz="1700"/>
              <a:t>• Combines Python, Processing, and CSV data</a:t>
            </a:r>
          </a:p>
          <a:p>
            <a:r>
              <a:rPr lang="en-US" sz="1700"/>
              <a:t>• Goal: Make data engaging and actionable</a:t>
            </a:r>
          </a:p>
        </p:txBody>
      </p:sp>
      <p:pic>
        <p:nvPicPr>
          <p:cNvPr id="5" name="Picture 4" descr="Smoke from factory">
            <a:extLst>
              <a:ext uri="{FF2B5EF4-FFF2-40B4-BE49-F238E27FC236}">
                <a16:creationId xmlns:a16="http://schemas.microsoft.com/office/drawing/2014/main" id="{BE238707-60F6-3A40-9FEB-BAF551EA90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73" r="10077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Understanding the Dataset</a:t>
            </a:r>
          </a:p>
        </p:txBody>
      </p:sp>
      <p:pic>
        <p:nvPicPr>
          <p:cNvPr id="5" name="Picture 4" descr="Sea of buildings at twilight">
            <a:extLst>
              <a:ext uri="{FF2B5EF4-FFF2-40B4-BE49-F238E27FC236}">
                <a16:creationId xmlns:a16="http://schemas.microsoft.com/office/drawing/2014/main" id="{8DA91814-1111-E176-5AC5-603428A9D2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8" r="34201" b="-2"/>
          <a:stretch/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• Raw Columns: Month, City, AQI, PM2.5, NO2, Year</a:t>
            </a:r>
          </a:p>
          <a:p>
            <a:pPr marL="0" indent="0">
              <a:buNone/>
            </a:pPr>
            <a:r>
              <a:rPr lang="en-US" sz="1700" dirty="0"/>
              <a:t>• Issues: Missing values, irrelevant pollutant data</a:t>
            </a:r>
          </a:p>
          <a:p>
            <a:pPr marL="0" indent="0">
              <a:buNone/>
            </a:pPr>
            <a:r>
              <a:rPr lang="en-US" sz="1700" dirty="0"/>
              <a:t>• Cleaned Columns: Month, AQI (per city &amp; year)</a:t>
            </a:r>
          </a:p>
          <a:p>
            <a:pPr marL="0" indent="0">
              <a:buNone/>
            </a:pPr>
            <a:r>
              <a:rPr lang="en-US" sz="1700" dirty="0"/>
              <a:t>• Tools: Pandas for preprocessing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Cleaning the Dataset with Python</a:t>
            </a:r>
          </a:p>
        </p:txBody>
      </p:sp>
      <p:pic>
        <p:nvPicPr>
          <p:cNvPr id="5" name="Picture 4" descr="Manhattan skyline in dark fog">
            <a:extLst>
              <a:ext uri="{FF2B5EF4-FFF2-40B4-BE49-F238E27FC236}">
                <a16:creationId xmlns:a16="http://schemas.microsoft.com/office/drawing/2014/main" id="{2DD6A773-2043-1598-62C5-233DD9174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09" r="25491" b="-1"/>
          <a:stretch/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• Dropped columns: PM2.5, NO2</a:t>
            </a:r>
          </a:p>
          <a:p>
            <a:pPr marL="0" indent="0">
              <a:buNone/>
            </a:pPr>
            <a:r>
              <a:rPr lang="en-US" sz="1700" dirty="0"/>
              <a:t>• Filtered: Cities = LA, NY | Years = 2023, 2024</a:t>
            </a:r>
          </a:p>
          <a:p>
            <a:pPr marL="0" indent="0">
              <a:buNone/>
            </a:pPr>
            <a:r>
              <a:rPr lang="en-US" sz="1700" dirty="0"/>
              <a:t>• Filled missing AQI with city-year mean</a:t>
            </a:r>
          </a:p>
          <a:p>
            <a:pPr marL="0" indent="0">
              <a:buNone/>
            </a:pPr>
            <a:r>
              <a:rPr lang="en-US" sz="1700" dirty="0"/>
              <a:t>• Saved 4 cleaned CSV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A61275F2-618D-C9F4-2136-87D5F21E33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8333" r="8333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671570"/>
            <a:ext cx="3866446" cy="4072044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Creating Interactive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9489" y="1671566"/>
            <a:ext cx="3878146" cy="4072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Tools: Processing 4 +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FloatTable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Integrator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Visuals: Bar graph (AQI colors), Line graph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Code: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loadDataset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drawBarGraph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drawLineGraph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D7D8D-B340-E9F0-1A02-F9004BE7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drawBarGraph</a:t>
            </a:r>
            <a:r>
              <a:rPr lang="en-US" dirty="0"/>
              <a:t>()</a:t>
            </a:r>
          </a:p>
        </p:txBody>
      </p:sp>
      <p:pic>
        <p:nvPicPr>
          <p:cNvPr id="5" name="Content Placeholder 4" descr="A white background with black and white text&#10;&#10;AI-generated content may be incorrect.">
            <a:extLst>
              <a:ext uri="{FF2B5EF4-FFF2-40B4-BE49-F238E27FC236}">
                <a16:creationId xmlns:a16="http://schemas.microsoft.com/office/drawing/2014/main" id="{4547F844-A4FF-E69C-2D67-6CF00C762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34207"/>
            <a:ext cx="8229600" cy="3973251"/>
          </a:xfrm>
        </p:spPr>
      </p:pic>
    </p:spTree>
    <p:extLst>
      <p:ext uri="{BB962C8B-B14F-4D97-AF65-F5344CB8AC3E}">
        <p14:creationId xmlns:p14="http://schemas.microsoft.com/office/powerpoint/2010/main" val="183626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BC62-F813-B3AB-C11A-587CF748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drawLineGraph</a:t>
            </a:r>
            <a:r>
              <a:rPr lang="en-US" dirty="0"/>
              <a:t>()</a:t>
            </a:r>
          </a:p>
        </p:txBody>
      </p:sp>
      <p:pic>
        <p:nvPicPr>
          <p:cNvPr id="5" name="Content Placeholder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CBC35A76-8E75-2CFC-F230-D4F8251CB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225" y="1600200"/>
            <a:ext cx="7317549" cy="4525963"/>
          </a:xfrm>
        </p:spPr>
      </p:pic>
    </p:spTree>
    <p:extLst>
      <p:ext uri="{BB962C8B-B14F-4D97-AF65-F5344CB8AC3E}">
        <p14:creationId xmlns:p14="http://schemas.microsoft.com/office/powerpoint/2010/main" val="299160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0D6772-5550-42D5-B8BC-CDE283656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DB0DD1-0F30-4B7E-A6DC-3DDA7D5B3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367FC9ED-C5CB-06B4-8EFB-69C1C0B8F1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13668" b="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671569"/>
            <a:ext cx="3116869" cy="4072044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User Interactivity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913" y="1671569"/>
            <a:ext cx="4625436" cy="40720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Keyboard: 'b'=bar, 'l'=line, '1/2'=switch cities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Mouse: Hover = AQI tooltip, Scroll = Zoom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Tab click = Switch dataset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Legend and Labels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D05F2-831C-B3FC-B221-EAC036F8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code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A4BF259-E52C-0399-C371-FE942F9DC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4534" y="1600200"/>
            <a:ext cx="6794931" cy="4525963"/>
          </a:xfrm>
        </p:spPr>
      </p:pic>
    </p:spTree>
    <p:extLst>
      <p:ext uri="{BB962C8B-B14F-4D97-AF65-F5344CB8AC3E}">
        <p14:creationId xmlns:p14="http://schemas.microsoft.com/office/powerpoint/2010/main" val="137497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9143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9E6DD-C55B-854A-F774-1A72D67D2C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8814"/>
          <a:stretch/>
        </p:blipFill>
        <p:spPr>
          <a:xfrm>
            <a:off x="20" y="-9107"/>
            <a:ext cx="9143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Visualization in Python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Tool: Seaborn + Matplotlib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Shows monthly AQI per city/year as color grid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Green = Good AQI, Red = Poor AQI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Plots via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pivot_table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DAFF-A529-7B50-022B-17543089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hart of heat map">
            <a:extLst>
              <a:ext uri="{FF2B5EF4-FFF2-40B4-BE49-F238E27FC236}">
                <a16:creationId xmlns:a16="http://schemas.microsoft.com/office/drawing/2014/main" id="{1F7498CA-3002-D17B-326E-C37DBC510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808" y="89338"/>
            <a:ext cx="9153808" cy="6768662"/>
          </a:xfrm>
        </p:spPr>
      </p:pic>
    </p:spTree>
    <p:extLst>
      <p:ext uri="{BB962C8B-B14F-4D97-AF65-F5344CB8AC3E}">
        <p14:creationId xmlns:p14="http://schemas.microsoft.com/office/powerpoint/2010/main" val="2228270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56F9A-7D7F-5800-E798-14840313CA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Troubleshooting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68EDAB-5AD2-DA16-AAC0-3F7C7D826C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61327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 Output bar graph</a:t>
            </a:r>
          </a:p>
        </p:txBody>
      </p:sp>
      <p:pic>
        <p:nvPicPr>
          <p:cNvPr id="5" name="Content Placeholder 4" descr="A graph with yellow lines&#10;&#10;AI-generated content may be incorrect.">
            <a:extLst>
              <a:ext uri="{FF2B5EF4-FFF2-40B4-BE49-F238E27FC236}">
                <a16:creationId xmlns:a16="http://schemas.microsoft.com/office/drawing/2014/main" id="{7FC8EBDF-1A6E-0E5B-022B-2752FF00E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679686"/>
            <a:ext cx="5085525" cy="34962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CAB58A-F3FB-1E37-4B27-3CD1888F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 output line graph</a:t>
            </a:r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45AAEBF2-01EF-6B7A-FA4A-A2E8BCBE9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616117"/>
            <a:ext cx="5085525" cy="362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29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4A86E-0F8D-9E31-5103-D2CB8539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56" r="29444"/>
          <a:stretch/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proficiency in: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Data loading and validation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Graphical animation with Integrators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Building interactive user experiences in Processing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datasets and visual formats allows better insights into correlations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D2F9BC-5706-4DEF-B2FB-97D0480375E5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343</Words>
  <Application>Microsoft Office PowerPoint</Application>
  <PresentationFormat>On-screen Show 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Visualizing Air Quality Trends in Los Angeles and New York</vt:lpstr>
      <vt:lpstr>Why Air Quality Matters</vt:lpstr>
      <vt:lpstr>Understanding the Dataset</vt:lpstr>
      <vt:lpstr>Cleaning the Dataset with Python</vt:lpstr>
      <vt:lpstr>Creating Interactive Visualizations</vt:lpstr>
      <vt:lpstr>drawBarGraph()</vt:lpstr>
      <vt:lpstr>drawLineGraph()</vt:lpstr>
      <vt:lpstr>User Interactivity Features</vt:lpstr>
      <vt:lpstr>Interactive code</vt:lpstr>
      <vt:lpstr>Heatmap Visualization in Python</vt:lpstr>
      <vt:lpstr>PowerPoint Presentation</vt:lpstr>
      <vt:lpstr>Troubleshooting Challenges</vt:lpstr>
      <vt:lpstr>Visual Output bar graph</vt:lpstr>
      <vt:lpstr>Visual output line graph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Tarun Kumar Reddy Gade</dc:creator>
  <cp:keywords/>
  <dc:description>generated using python-pptx</dc:description>
  <cp:lastModifiedBy>Tarun Kumar Reddy Gade</cp:lastModifiedBy>
  <cp:revision>2</cp:revision>
  <dcterms:created xsi:type="dcterms:W3CDTF">2013-01-27T09:14:16Z</dcterms:created>
  <dcterms:modified xsi:type="dcterms:W3CDTF">2025-05-09T17:55:59Z</dcterms:modified>
  <cp:category/>
</cp:coreProperties>
</file>